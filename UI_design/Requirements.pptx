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92" r:id="rId4"/>
  </p:sldMasterIdLst>
  <p:notesMasterIdLst>
    <p:notesMasterId r:id="rId7"/>
  </p:notesMasterIdLst>
  <p:sldIdLst>
    <p:sldId id="268" r:id="rId5"/>
    <p:sldId id="26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EC423"/>
    <a:srgbClr val="07519E"/>
    <a:srgbClr val="2DA9E1"/>
    <a:srgbClr val="1C36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238E4F-EB2A-B94A-B32E-4D4B40498E50}" v="573" dt="2024-05-29T20:03:30.0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50"/>
    <p:restoredTop sz="94694"/>
  </p:normalViewPr>
  <p:slideViewPr>
    <p:cSldViewPr snapToGrid="0">
      <p:cViewPr varScale="1">
        <p:scale>
          <a:sx n="117" d="100"/>
          <a:sy n="117" d="100"/>
        </p:scale>
        <p:origin x="912" y="-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09992B-A26C-6A4B-AC27-2602734F2866}" type="datetimeFigureOut">
              <a:rPr lang="en-US" smtClean="0"/>
              <a:t>5/29/24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0CCFD4-A7F8-054B-8822-BC244B953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012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CCFD4-A7F8-054B-8822-BC244B95358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2305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CCFD4-A7F8-054B-8822-BC244B95358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5032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Hex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77A4BE5-FE46-EA43-B6B0-450DE02CC3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-4764"/>
            <a:ext cx="10174777" cy="537929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566EC07-D962-6647-8E4E-0283A02CE19B}"/>
              </a:ext>
            </a:extLst>
          </p:cNvPr>
          <p:cNvSpPr/>
          <p:nvPr userDrawn="1"/>
        </p:nvSpPr>
        <p:spPr>
          <a:xfrm>
            <a:off x="0" y="0"/>
            <a:ext cx="12192000" cy="5479712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76000">
                <a:schemeClr val="bg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blue/green box bottom">
            <a:extLst>
              <a:ext uri="{FF2B5EF4-FFF2-40B4-BE49-F238E27FC236}">
                <a16:creationId xmlns:a16="http://schemas.microsoft.com/office/drawing/2014/main" id="{01F9400E-D49A-AA40-B4BD-53F03EC31D76}"/>
              </a:ext>
            </a:extLst>
          </p:cNvPr>
          <p:cNvGrpSpPr/>
          <p:nvPr userDrawn="1"/>
        </p:nvGrpSpPr>
        <p:grpSpPr>
          <a:xfrm>
            <a:off x="0" y="5340350"/>
            <a:ext cx="12192000" cy="1517650"/>
            <a:chOff x="0" y="5340350"/>
            <a:chExt cx="12192000" cy="151765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C04B8F3-C379-C04D-8634-1CDEC81586E2}"/>
                </a:ext>
              </a:extLst>
            </p:cNvPr>
            <p:cNvSpPr/>
            <p:nvPr userDrawn="1"/>
          </p:nvSpPr>
          <p:spPr bwMode="auto">
            <a:xfrm>
              <a:off x="0" y="5444519"/>
              <a:ext cx="12192000" cy="1413481"/>
            </a:xfrm>
            <a:prstGeom prst="rect">
              <a:avLst/>
            </a:prstGeom>
            <a:solidFill>
              <a:srgbClr val="07519E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03207E4-91BC-AB48-939F-AAC2AA29BF23}"/>
                </a:ext>
              </a:extLst>
            </p:cNvPr>
            <p:cNvSpPr/>
            <p:nvPr userDrawn="1"/>
          </p:nvSpPr>
          <p:spPr bwMode="auto">
            <a:xfrm>
              <a:off x="0" y="5340350"/>
              <a:ext cx="12192000" cy="104169"/>
            </a:xfrm>
            <a:prstGeom prst="rect">
              <a:avLst/>
            </a:prstGeom>
            <a:solidFill>
              <a:srgbClr val="8EC423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</p:grp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E1DFF24A-6025-2847-8C93-29954BFB7B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7144" y="2217074"/>
            <a:ext cx="9354855" cy="2292350"/>
          </a:xfrm>
          <a:noFill/>
        </p:spPr>
        <p:txBody>
          <a:bodyPr wrap="square" lIns="365760" tIns="822960" rIns="1097280" bIns="822960"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 sz="36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525" indent="0">
              <a:buFontTx/>
              <a:buNone/>
              <a:tabLst/>
              <a:defRPr sz="2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title</a:t>
            </a:r>
          </a:p>
          <a:p>
            <a:pPr lvl="1"/>
            <a:r>
              <a:rPr lang="en-US"/>
              <a:t>Click to edit subtitle</a:t>
            </a:r>
          </a:p>
        </p:txBody>
      </p:sp>
      <p:sp>
        <p:nvSpPr>
          <p:cNvPr id="16" name="Text Placeholder 46">
            <a:extLst>
              <a:ext uri="{FF2B5EF4-FFF2-40B4-BE49-F238E27FC236}">
                <a16:creationId xmlns:a16="http://schemas.microsoft.com/office/drawing/2014/main" id="{F11E7C5D-AAED-604F-85A8-6DB539F1F60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70142" y="273297"/>
            <a:ext cx="2541981" cy="1392237"/>
          </a:xfrm>
          <a:effectLst/>
        </p:spPr>
        <p:txBody>
          <a:bodyPr lIns="0" rIns="0" bIns="0" anchor="b" anchorCtr="0">
            <a:noAutofit/>
          </a:bodyPr>
          <a:lstStyle>
            <a:lvl1pPr marL="7938" indent="0">
              <a:buFontTx/>
              <a:buNone/>
              <a:tabLst/>
              <a:defRPr sz="16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b="0" i="0">
                <a:solidFill>
                  <a:schemeClr val="bg1"/>
                </a:solidFill>
                <a:latin typeface="Myriad Pro Cond" panose="020B0506030403020204" pitchFamily="34" charset="0"/>
              </a:defRPr>
            </a:lvl2pPr>
            <a:lvl3pPr marL="7938" indent="0">
              <a:buFontTx/>
              <a:buNone/>
              <a:tabLst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FontTx/>
              <a:buNone/>
              <a:defRPr b="0" i="0">
                <a:solidFill>
                  <a:schemeClr val="bg1"/>
                </a:solidFill>
                <a:latin typeface="Myriad Pro Cond" panose="020B0506030403020204" pitchFamily="34" charset="0"/>
              </a:defRPr>
            </a:lvl4pPr>
            <a:lvl5pPr marL="1828800" indent="0">
              <a:buFontTx/>
              <a:buNone/>
              <a:defRPr b="0" i="0">
                <a:solidFill>
                  <a:schemeClr val="bg1"/>
                </a:solidFill>
                <a:latin typeface="Myriad Pro Cond" panose="020B0506030403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610926E-0A3C-C1B9-33F0-0FCC7333AFB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04279" y="5913998"/>
            <a:ext cx="5842000" cy="46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4190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1920">
          <p15:clr>
            <a:srgbClr val="FBAE40"/>
          </p15:clr>
        </p15:guide>
        <p15:guide id="4" pos="53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EC5EE-7A70-7D44-877F-2A9D266232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D6444-081A-D54B-830B-A94153C0EF14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360E5-08B7-0248-9E12-23AA43EAF841}" type="datetime1">
              <a:rPr lang="en-US" smtClean="0"/>
              <a:t>5/29/24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193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Full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2365512-1A58-B241-838D-EFAB0E25F8AF}"/>
              </a:ext>
            </a:extLst>
          </p:cNvPr>
          <p:cNvSpPr/>
          <p:nvPr userDrawn="1"/>
        </p:nvSpPr>
        <p:spPr>
          <a:xfrm>
            <a:off x="0" y="6335712"/>
            <a:ext cx="12192000" cy="5222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89965-9C98-C446-B0C8-8151A52702B5}"/>
              </a:ext>
            </a:extLst>
          </p:cNvPr>
          <p:cNvSpPr/>
          <p:nvPr userDrawn="1"/>
        </p:nvSpPr>
        <p:spPr>
          <a:xfrm>
            <a:off x="0" y="6237795"/>
            <a:ext cx="12192000" cy="979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DAHO NATIONAL LABORATORY">
            <a:extLst>
              <a:ext uri="{FF2B5EF4-FFF2-40B4-BE49-F238E27FC236}">
                <a16:creationId xmlns:a16="http://schemas.microsoft.com/office/drawing/2014/main" id="{C9B294FD-1F7F-4240-B2BD-1DD570DF2EC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44584" y="6543675"/>
            <a:ext cx="2768600" cy="127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03EC5EE-7A70-7D44-877F-2A9D266232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D6444-081A-D54B-830B-A94153C0EF14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D8311-66E2-9947-BE0C-6696DF34058D}" type="datetime1">
              <a:rPr lang="en-US" smtClean="0"/>
              <a:t>5/29/24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340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EC5EE-7A70-7D44-877F-2A9D266232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</a:t>
            </a:r>
            <a:br>
              <a:rPr lang="en-US"/>
            </a:br>
            <a:r>
              <a:rPr lang="en-US"/>
              <a:t>(Reduce font for title longer than 2 lines)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E2DA3-952B-1246-A6D8-62C33891018A}" type="datetime1">
              <a:rPr lang="en-US" smtClean="0"/>
              <a:t>5/29/24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E6D6083-77A6-334A-8C7F-A5F18D4F5F8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38213" y="1739901"/>
            <a:ext cx="10415587" cy="432752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2"/>
              </a:buClr>
              <a:buSzTx/>
              <a:buFontTx/>
              <a:buNone/>
              <a:tabLst/>
              <a:defRPr sz="2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Click photo icon below to insert picture</a:t>
            </a:r>
            <a:br>
              <a:rPr lang="en-US"/>
            </a:br>
            <a:r>
              <a:rPr lang="en-US"/>
              <a:t>(if replacing picture, you will have to reset your crop area)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134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Full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2365512-1A58-B241-838D-EFAB0E25F8AF}"/>
              </a:ext>
            </a:extLst>
          </p:cNvPr>
          <p:cNvSpPr/>
          <p:nvPr userDrawn="1"/>
        </p:nvSpPr>
        <p:spPr>
          <a:xfrm>
            <a:off x="0" y="6335712"/>
            <a:ext cx="12192000" cy="5222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89965-9C98-C446-B0C8-8151A52702B5}"/>
              </a:ext>
            </a:extLst>
          </p:cNvPr>
          <p:cNvSpPr/>
          <p:nvPr userDrawn="1"/>
        </p:nvSpPr>
        <p:spPr>
          <a:xfrm>
            <a:off x="0" y="6237795"/>
            <a:ext cx="12192000" cy="979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DAHO NATIONAL LABORATORY">
            <a:extLst>
              <a:ext uri="{FF2B5EF4-FFF2-40B4-BE49-F238E27FC236}">
                <a16:creationId xmlns:a16="http://schemas.microsoft.com/office/drawing/2014/main" id="{C9B294FD-1F7F-4240-B2BD-1DD570DF2EC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44584" y="6543675"/>
            <a:ext cx="2768600" cy="127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03EC5EE-7A70-7D44-877F-2A9D266232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</a:t>
            </a:r>
            <a:br>
              <a:rPr lang="en-US"/>
            </a:br>
            <a:r>
              <a:rPr lang="en-US"/>
              <a:t>(Reduce font for title longer than 2 lines)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C91A4-48CE-3148-83C5-163A8B7B4AFF}" type="datetime1">
              <a:rPr lang="en-US" smtClean="0"/>
              <a:t>5/29/24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659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EC5EE-7A70-7D44-877F-2A9D266232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</a:t>
            </a:r>
            <a:br>
              <a:rPr lang="en-US"/>
            </a:br>
            <a:r>
              <a:rPr lang="en-US"/>
              <a:t>(Reduce font for title longer than 2 lines)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D6444-081A-D54B-830B-A94153C0EF1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340345" y="1739901"/>
            <a:ext cx="5013454" cy="4207040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BB3E2-F5C6-C84B-A8EA-6A79B0C48A26}" type="datetime1">
              <a:rPr lang="en-US" smtClean="0"/>
              <a:t>5/29/24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705329EE-4FB4-5A4D-AB92-8FB39F6378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38150" y="1739901"/>
            <a:ext cx="5081650" cy="42070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Click photo icon below to insert picture</a:t>
            </a:r>
            <a:br>
              <a:rPr lang="en-US"/>
            </a:br>
            <a:r>
              <a:rPr lang="en-US"/>
              <a:t>(if replacing picture, you will have to reset your crop area)</a:t>
            </a:r>
          </a:p>
        </p:txBody>
      </p:sp>
    </p:spTree>
    <p:extLst>
      <p:ext uri="{BB962C8B-B14F-4D97-AF65-F5344CB8AC3E}">
        <p14:creationId xmlns:p14="http://schemas.microsoft.com/office/powerpoint/2010/main" val="1810270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EC5EE-7A70-7D44-877F-2A9D266232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</a:t>
            </a:r>
            <a:br>
              <a:rPr lang="en-US"/>
            </a:br>
            <a:r>
              <a:rPr lang="en-US"/>
              <a:t>(Reduce font for title longer than 2 lines)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D6444-081A-D54B-830B-A94153C0EF1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38150" y="1739901"/>
            <a:ext cx="5013454" cy="4207040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02380-B65F-B44E-8BF4-4FCA291374DB}" type="datetime1">
              <a:rPr lang="en-US" smtClean="0"/>
              <a:t>5/29/24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705329EE-4FB4-5A4D-AB92-8FB39F6378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72149" y="1739901"/>
            <a:ext cx="5081650" cy="42070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Click photo icon below to insert picture</a:t>
            </a:r>
            <a:br>
              <a:rPr lang="en-US"/>
            </a:br>
            <a:r>
              <a:rPr lang="en-US"/>
              <a:t>(if replacing picture, you will have to reset your crop area)</a:t>
            </a:r>
          </a:p>
        </p:txBody>
      </p:sp>
    </p:spTree>
    <p:extLst>
      <p:ext uri="{BB962C8B-B14F-4D97-AF65-F5344CB8AC3E}">
        <p14:creationId xmlns:p14="http://schemas.microsoft.com/office/powerpoint/2010/main" val="3923201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Box Phot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EC5EE-7A70-7D44-877F-2A9D266232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8151" y="558602"/>
            <a:ext cx="6704151" cy="1005229"/>
          </a:xfrm>
        </p:spPr>
        <p:txBody>
          <a:bodyPr/>
          <a:lstStyle/>
          <a:p>
            <a:r>
              <a:rPr lang="en-US"/>
              <a:t>Click to edit title</a:t>
            </a:r>
            <a:br>
              <a:rPr lang="en-US"/>
            </a:br>
            <a:r>
              <a:rPr lang="en-US"/>
              <a:t>(2 lines max)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D6444-081A-D54B-830B-A94153C0EF1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38149" y="1739901"/>
            <a:ext cx="6704153" cy="4207040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FC433-A528-BF41-A371-E1686A811844}" type="datetime1">
              <a:rPr lang="en-US" smtClean="0"/>
              <a:t>5/29/24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2EB56D-A175-2340-8316-CB2D73FC70C2}"/>
              </a:ext>
            </a:extLst>
          </p:cNvPr>
          <p:cNvSpPr/>
          <p:nvPr userDrawn="1"/>
        </p:nvSpPr>
        <p:spPr>
          <a:xfrm>
            <a:off x="8465770" y="-1"/>
            <a:ext cx="3726230" cy="62377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AEB60818-A426-D644-9EEA-D2FB1CBDFB5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871283" y="522288"/>
            <a:ext cx="2919664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Click photo icon below to insert picture</a:t>
            </a:r>
            <a:br>
              <a:rPr lang="en-US"/>
            </a:br>
            <a:r>
              <a:rPr lang="en-US"/>
              <a:t>(if replacing picture, you will have to reset your crop area)</a:t>
            </a:r>
          </a:p>
        </p:txBody>
      </p:sp>
    </p:spTree>
    <p:extLst>
      <p:ext uri="{BB962C8B-B14F-4D97-AF65-F5344CB8AC3E}">
        <p14:creationId xmlns:p14="http://schemas.microsoft.com/office/powerpoint/2010/main" val="1991234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Box Phot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D6444-081A-D54B-830B-A94153C0EF1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38149" y="1739901"/>
            <a:ext cx="6704153" cy="4207040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37AA6-C825-6E4D-B0BA-D10620247DF5}" type="datetime1">
              <a:rPr lang="en-US" smtClean="0"/>
              <a:t>5/29/24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2EB56D-A175-2340-8316-CB2D73FC70C2}"/>
              </a:ext>
            </a:extLst>
          </p:cNvPr>
          <p:cNvSpPr/>
          <p:nvPr userDrawn="1"/>
        </p:nvSpPr>
        <p:spPr>
          <a:xfrm>
            <a:off x="8465770" y="-1"/>
            <a:ext cx="3726230" cy="623779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AEB60818-A426-D644-9EEA-D2FB1CBDFB5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871283" y="522288"/>
            <a:ext cx="2919664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Click photo icon below to insert picture</a:t>
            </a:r>
            <a:br>
              <a:rPr lang="en-US"/>
            </a:br>
            <a:r>
              <a:rPr lang="en-US"/>
              <a:t>(if replacing picture, you will have to reset your crop area)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EFBD4CC-FEFF-654C-B1A3-229DA69D10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8151" y="558602"/>
            <a:ext cx="6704151" cy="1005229"/>
          </a:xfrm>
        </p:spPr>
        <p:txBody>
          <a:bodyPr/>
          <a:lstStyle/>
          <a:p>
            <a:r>
              <a:rPr lang="en-US"/>
              <a:t>Click to edit title</a:t>
            </a:r>
            <a:br>
              <a:rPr lang="en-US"/>
            </a:br>
            <a:r>
              <a:rPr lang="en-US"/>
              <a:t>(2 lines max)</a:t>
            </a:r>
          </a:p>
        </p:txBody>
      </p:sp>
    </p:spTree>
    <p:extLst>
      <p:ext uri="{BB962C8B-B14F-4D97-AF65-F5344CB8AC3E}">
        <p14:creationId xmlns:p14="http://schemas.microsoft.com/office/powerpoint/2010/main" val="3924736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ue Box Phot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D6444-081A-D54B-830B-A94153C0EF1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38149" y="1739901"/>
            <a:ext cx="6704153" cy="4207040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516A8-373C-B446-86DD-9B3081E1642C}" type="datetime1">
              <a:rPr lang="en-US" smtClean="0"/>
              <a:t>5/29/24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2EB56D-A175-2340-8316-CB2D73FC70C2}"/>
              </a:ext>
            </a:extLst>
          </p:cNvPr>
          <p:cNvSpPr/>
          <p:nvPr userDrawn="1"/>
        </p:nvSpPr>
        <p:spPr>
          <a:xfrm>
            <a:off x="8465770" y="-1"/>
            <a:ext cx="3726230" cy="623779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AEB60818-A426-D644-9EEA-D2FB1CBDFB5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871283" y="522288"/>
            <a:ext cx="2919664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photo icon below to insert picture</a:t>
            </a:r>
            <a:br>
              <a:rPr lang="en-US"/>
            </a:br>
            <a:r>
              <a:rPr lang="en-US"/>
              <a:t>(if replacing picture, you will have to reset your crop area)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80018A3-14FE-A04B-A3B4-D9AA55483B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8151" y="558602"/>
            <a:ext cx="6704151" cy="1005229"/>
          </a:xfrm>
        </p:spPr>
        <p:txBody>
          <a:bodyPr/>
          <a:lstStyle/>
          <a:p>
            <a:r>
              <a:rPr lang="en-US"/>
              <a:t>Click to edit title</a:t>
            </a:r>
            <a:br>
              <a:rPr lang="en-US"/>
            </a:br>
            <a:r>
              <a:rPr lang="en-US"/>
              <a:t>(2 lines max)</a:t>
            </a:r>
          </a:p>
        </p:txBody>
      </p:sp>
    </p:spTree>
    <p:extLst>
      <p:ext uri="{BB962C8B-B14F-4D97-AF65-F5344CB8AC3E}">
        <p14:creationId xmlns:p14="http://schemas.microsoft.com/office/powerpoint/2010/main" val="5465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Blue Box Bulle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2CB96BB-242F-BC47-80BF-E45DB97245BA}"/>
              </a:ext>
            </a:extLst>
          </p:cNvPr>
          <p:cNvSpPr/>
          <p:nvPr userDrawn="1"/>
        </p:nvSpPr>
        <p:spPr>
          <a:xfrm>
            <a:off x="6843714" y="0"/>
            <a:ext cx="5346699" cy="623779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2FA9CB-507A-AA48-963A-8D5E37B7CF5B}"/>
              </a:ext>
            </a:extLst>
          </p:cNvPr>
          <p:cNvSpPr/>
          <p:nvPr userDrawn="1"/>
        </p:nvSpPr>
        <p:spPr>
          <a:xfrm>
            <a:off x="0" y="6335712"/>
            <a:ext cx="12192000" cy="5222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79016F-99B0-6B40-B3F7-87F0068FC0E5}"/>
              </a:ext>
            </a:extLst>
          </p:cNvPr>
          <p:cNvSpPr/>
          <p:nvPr userDrawn="1"/>
        </p:nvSpPr>
        <p:spPr>
          <a:xfrm>
            <a:off x="0" y="6237795"/>
            <a:ext cx="12192000" cy="979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IDAHO NATIONAL LABORATORY">
            <a:extLst>
              <a:ext uri="{FF2B5EF4-FFF2-40B4-BE49-F238E27FC236}">
                <a16:creationId xmlns:a16="http://schemas.microsoft.com/office/drawing/2014/main" id="{BD942965-6C07-5D4A-809D-5FC754D590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44584" y="6543675"/>
            <a:ext cx="2768600" cy="127000"/>
          </a:xfrm>
          <a:prstGeom prst="rect">
            <a:avLst/>
          </a:prstGeom>
        </p:spPr>
      </p:pic>
      <p:sp>
        <p:nvSpPr>
          <p:cNvPr id="14" name="Title Placeholder BIG box blue right">
            <a:extLst>
              <a:ext uri="{FF2B5EF4-FFF2-40B4-BE49-F238E27FC236}">
                <a16:creationId xmlns:a16="http://schemas.microsoft.com/office/drawing/2014/main" id="{AB7EA1D9-8A57-3143-9688-4BB8599F986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50063" y="0"/>
            <a:ext cx="5340350" cy="907549"/>
          </a:xfrm>
          <a:prstGeom prst="rect">
            <a:avLst/>
          </a:prstGeom>
          <a:noFill/>
        </p:spPr>
        <p:txBody>
          <a:bodyPr lIns="274320" tIns="365760" rIns="274320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box title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538B584E-1ECA-5646-9DA7-61B8110256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16947" y="1064712"/>
            <a:ext cx="4598987" cy="4515349"/>
          </a:xfrm>
          <a:prstGeom prst="rect">
            <a:avLst/>
          </a:prstGeom>
        </p:spPr>
        <p:txBody>
          <a:bodyPr lIns="0">
            <a:normAutofit/>
          </a:bodyPr>
          <a:lstStyle>
            <a:lvl1pPr marL="347663" indent="-342900">
              <a:buClr>
                <a:schemeClr val="bg1"/>
              </a:buClr>
              <a:tabLst/>
              <a:defRPr sz="24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bullet list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5991A-9709-BF48-B1F4-9DF4E3AFEB76}" type="datetime1">
              <a:rPr lang="en-US" smtClean="0"/>
              <a:t>5/29/24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Picture Placeholder">
            <a:extLst>
              <a:ext uri="{FF2B5EF4-FFF2-40B4-BE49-F238E27FC236}">
                <a16:creationId xmlns:a16="http://schemas.microsoft.com/office/drawing/2014/main" id="{6EF42CC7-103E-EA4C-89A2-543032DA331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843714" cy="622826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Click photo icon below to insert picture</a:t>
            </a:r>
            <a:br>
              <a:rPr lang="en-US"/>
            </a:br>
            <a:r>
              <a:rPr lang="en-US"/>
              <a:t>(if replacing picture, you will have to reset your crop area)</a:t>
            </a:r>
          </a:p>
        </p:txBody>
      </p:sp>
    </p:spTree>
    <p:extLst>
      <p:ext uri="{BB962C8B-B14F-4D97-AF65-F5344CB8AC3E}">
        <p14:creationId xmlns:p14="http://schemas.microsoft.com/office/powerpoint/2010/main" val="38900746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25992-890C-EC4B-B676-6CCEF133B8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8150" y="1709738"/>
            <a:ext cx="10409299" cy="2852737"/>
          </a:xfrm>
        </p:spPr>
        <p:txBody>
          <a:bodyPr anchor="ctr" anchorCtr="0"/>
          <a:lstStyle>
            <a:lvl1pPr>
              <a:defRPr sz="480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5303FD-B916-FD4E-85C2-3EBF655BC1F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38150" y="4589463"/>
            <a:ext cx="104093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FDE18-9616-B043-9C71-522DAD29B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70031-B8D1-8947-8F40-D69D2A6E0840}" type="datetime1">
              <a:rPr lang="en-US" smtClean="0"/>
              <a:t>5/29/24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32FF7A-5905-EB40-919B-9225D0871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C7509E-6005-DB4B-9578-84532E5F8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3822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C0D34-E50C-7946-9657-29EA34F401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</a:t>
            </a:r>
            <a:br>
              <a:rPr lang="en-US"/>
            </a:br>
            <a:r>
              <a:rPr lang="en-US"/>
              <a:t>(Reduce font for title longer than 2 lines)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FFB48-1F38-8C46-B4B3-0871CA9880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938150" y="1739901"/>
            <a:ext cx="5081650" cy="4351338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C7F5AB-BF51-4044-8164-B8ADFB34B0A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72148" y="1739901"/>
            <a:ext cx="5081651" cy="4351338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3E568-D8E9-CE46-B564-4CAF0B6E4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0F5A2-9205-7049-9455-A072FA22C684}" type="datetime1">
              <a:rPr lang="en-US" smtClean="0"/>
              <a:t>5/29/24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3C80FD-FB7C-F246-A242-07AFCB295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FBDEBE-950D-C343-A00C-8D9FA1E33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3200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C0D34-E50C-7946-9657-29EA34F401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</a:t>
            </a:r>
            <a:br>
              <a:rPr lang="en-US"/>
            </a:br>
            <a:r>
              <a:rPr lang="en-US"/>
              <a:t>(Reduce font for title longer than 2 lines)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FFB48-1F38-8C46-B4B3-0871CA9880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938150" y="2412999"/>
            <a:ext cx="5081650" cy="3763963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C7F5AB-BF51-4044-8164-B8ADFB34B0A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72148" y="2412999"/>
            <a:ext cx="5081651" cy="3763963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3E568-D8E9-CE46-B564-4CAF0B6E4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CD554-F59F-7740-914D-A51F4F899269}" type="datetime1">
              <a:rPr lang="en-US" smtClean="0"/>
              <a:t>5/29/24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3C80FD-FB7C-F246-A242-07AFCB295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FBDEBE-950D-C343-A00C-8D9FA1E33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72D795B-85F6-1F49-922A-F4131787307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938213" y="1589087"/>
            <a:ext cx="5081587" cy="766763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subhead 1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B4E34B4F-F908-104C-90F3-5135E2E8C74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70625" y="1589087"/>
            <a:ext cx="5081587" cy="766763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subhead 2 </a:t>
            </a:r>
          </a:p>
        </p:txBody>
      </p:sp>
    </p:spTree>
    <p:extLst>
      <p:ext uri="{BB962C8B-B14F-4D97-AF65-F5344CB8AC3E}">
        <p14:creationId xmlns:p14="http://schemas.microsoft.com/office/powerpoint/2010/main" val="17900851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Stat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07">
            <a:extLst>
              <a:ext uri="{FF2B5EF4-FFF2-40B4-BE49-F238E27FC236}">
                <a16:creationId xmlns:a16="http://schemas.microsoft.com/office/drawing/2014/main" id="{4647A912-5093-6043-8161-0D98167F242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-336550"/>
            <a:ext cx="12192000" cy="6858000"/>
          </a:xfrm>
          <a:prstGeom prst="rect">
            <a:avLst/>
          </a:prstGeom>
        </p:spPr>
      </p:pic>
      <p:grpSp>
        <p:nvGrpSpPr>
          <p:cNvPr id="11" name="Bottom Bar">
            <a:extLst>
              <a:ext uri="{FF2B5EF4-FFF2-40B4-BE49-F238E27FC236}">
                <a16:creationId xmlns:a16="http://schemas.microsoft.com/office/drawing/2014/main" id="{DC935C4B-E372-E04B-8493-E90A79CBC7F4}"/>
              </a:ext>
            </a:extLst>
          </p:cNvPr>
          <p:cNvGrpSpPr/>
          <p:nvPr userDrawn="1"/>
        </p:nvGrpSpPr>
        <p:grpSpPr>
          <a:xfrm>
            <a:off x="0" y="6247747"/>
            <a:ext cx="12192000" cy="610252"/>
            <a:chOff x="0" y="6247747"/>
            <a:chExt cx="12192000" cy="61025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A574F32-F3B5-224E-B6D3-DC767B30A5BE}"/>
                </a:ext>
              </a:extLst>
            </p:cNvPr>
            <p:cNvSpPr/>
            <p:nvPr/>
          </p:nvSpPr>
          <p:spPr>
            <a:xfrm>
              <a:off x="0" y="6334125"/>
              <a:ext cx="12192000" cy="523874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8EE050A-3114-2641-96C8-48D281A062A0}"/>
                </a:ext>
              </a:extLst>
            </p:cNvPr>
            <p:cNvSpPr/>
            <p:nvPr/>
          </p:nvSpPr>
          <p:spPr>
            <a:xfrm>
              <a:off x="0" y="6247747"/>
              <a:ext cx="12192000" cy="8637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F59F24B-A93D-B046-B78A-2C31137D1AC5}"/>
              </a:ext>
            </a:extLst>
          </p:cNvPr>
          <p:cNvSpPr txBox="1"/>
          <p:nvPr userDrawn="1"/>
        </p:nvSpPr>
        <p:spPr>
          <a:xfrm>
            <a:off x="2872408" y="5178483"/>
            <a:ext cx="6447184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i="1">
                <a:solidFill>
                  <a:schemeClr val="bg1">
                    <a:lumMod val="65000"/>
                  </a:schemeClr>
                </a:solidFill>
              </a:rPr>
              <a:t>Battelle Energy Alliance manages INL for the U.S. Department of Energy’s Office of Nuclear Energy. </a:t>
            </a:r>
            <a:br>
              <a:rPr lang="en-US" sz="1050" i="1">
                <a:solidFill>
                  <a:schemeClr val="bg1">
                    <a:lumMod val="65000"/>
                  </a:schemeClr>
                </a:solidFill>
              </a:rPr>
            </a:br>
            <a:r>
              <a:rPr lang="en-US" sz="1050" i="1">
                <a:solidFill>
                  <a:schemeClr val="bg1">
                    <a:lumMod val="65000"/>
                  </a:schemeClr>
                </a:solidFill>
              </a:rPr>
              <a:t>INL is the nation’s center for nuclear energy research and development, and also performs research </a:t>
            </a:r>
            <a:br>
              <a:rPr lang="en-US" sz="1050" i="1">
                <a:solidFill>
                  <a:schemeClr val="bg1">
                    <a:lumMod val="65000"/>
                  </a:schemeClr>
                </a:solidFill>
              </a:rPr>
            </a:br>
            <a:r>
              <a:rPr lang="en-US" sz="1050" i="1">
                <a:solidFill>
                  <a:schemeClr val="bg1">
                    <a:lumMod val="65000"/>
                  </a:schemeClr>
                </a:solidFill>
              </a:rPr>
              <a:t>in each of DOE’s strategic goal areas: energy, national security, science and the environment.</a:t>
            </a:r>
            <a:endParaRPr lang="en-US" sz="105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5" name="Web Address">
            <a:extLst>
              <a:ext uri="{FF2B5EF4-FFF2-40B4-BE49-F238E27FC236}">
                <a16:creationId xmlns:a16="http://schemas.microsoft.com/office/drawing/2014/main" id="{53FCC0DF-9440-B040-A076-DF507B404D83}"/>
              </a:ext>
            </a:extLst>
          </p:cNvPr>
          <p:cNvSpPr txBox="1"/>
          <p:nvPr userDrawn="1"/>
        </p:nvSpPr>
        <p:spPr>
          <a:xfrm>
            <a:off x="4100945" y="6417425"/>
            <a:ext cx="3990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pc="600">
                <a:solidFill>
                  <a:schemeClr val="bg1">
                    <a:alpha val="50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WWW.INL.GOV</a:t>
            </a:r>
          </a:p>
        </p:txBody>
      </p:sp>
    </p:spTree>
    <p:extLst>
      <p:ext uri="{BB962C8B-B14F-4D97-AF65-F5344CB8AC3E}">
        <p14:creationId xmlns:p14="http://schemas.microsoft.com/office/powerpoint/2010/main" val="1883443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82502A-5BF2-8845-923F-AAF24377F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151" y="558603"/>
            <a:ext cx="10415648" cy="510876"/>
          </a:xfrm>
          <a:prstGeom prst="rect">
            <a:avLst/>
          </a:prstGeom>
        </p:spPr>
        <p:txBody>
          <a:bodyPr vert="horz" lIns="0" tIns="0" rIns="91440" bIns="45720" rtlCol="0" anchor="t" anchorCtr="0">
            <a:noAutofit/>
          </a:bodyPr>
          <a:lstStyle/>
          <a:p>
            <a:r>
              <a:rPr lang="en-US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7B4A4D-34FE-994A-AFE8-DCF682312F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8150" y="1277442"/>
            <a:ext cx="10908410" cy="4813797"/>
          </a:xfrm>
          <a:prstGeom prst="rect">
            <a:avLst/>
          </a:prstGeom>
        </p:spPr>
        <p:txBody>
          <a:bodyPr vert="horz" lIns="0" tIns="0" rIns="91440" bIns="45720" rtlCol="0">
            <a:noAutofit/>
          </a:bodyPr>
          <a:lstStyle/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0CF24-C629-E54C-BA9B-20518F01F0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1" y="6492875"/>
            <a:ext cx="1546302" cy="365125"/>
          </a:xfrm>
          <a:prstGeom prst="rect">
            <a:avLst/>
          </a:prstGeom>
        </p:spPr>
        <p:txBody>
          <a:bodyPr vert="horz" lIns="91440" tIns="45720" rIns="91440" bIns="155448" rtlCol="0" anchor="ctr"/>
          <a:lstStyle>
            <a:lvl1pPr algn="l">
              <a:defRPr sz="1000">
                <a:solidFill>
                  <a:schemeClr val="accent6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B2A83D2-99B0-C447-B986-DB96CC086DC7}" type="datetime1">
              <a:rPr lang="en-US" smtClean="0"/>
              <a:t>5/29/24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334D85-E219-4F49-88C8-4DC17F06DE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8150" y="6492875"/>
            <a:ext cx="5060066" cy="365125"/>
          </a:xfrm>
          <a:prstGeom prst="rect">
            <a:avLst/>
          </a:prstGeom>
        </p:spPr>
        <p:txBody>
          <a:bodyPr vert="horz" lIns="91440" tIns="45720" rIns="91440" bIns="155448" rtlCol="0" anchor="ctr"/>
          <a:lstStyle>
            <a:lvl1pPr algn="ctr">
              <a:defRPr sz="1000">
                <a:solidFill>
                  <a:schemeClr val="accent6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7F2A8-2F01-4745-8AFB-4EEC8D271D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5020" y="6492875"/>
            <a:ext cx="434428" cy="365125"/>
          </a:xfrm>
          <a:prstGeom prst="rect">
            <a:avLst/>
          </a:prstGeom>
        </p:spPr>
        <p:txBody>
          <a:bodyPr vert="horz" lIns="91440" tIns="45720" rIns="91440" bIns="155448" rtlCol="0" anchor="ctr"/>
          <a:lstStyle>
            <a:lvl1pPr algn="ctr">
              <a:defRPr sz="1000" b="1">
                <a:solidFill>
                  <a:schemeClr val="accent6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2B577FA-F7D9-2C48-919F-F962E3BF952F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blue/green box top">
            <a:extLst>
              <a:ext uri="{FF2B5EF4-FFF2-40B4-BE49-F238E27FC236}">
                <a16:creationId xmlns:a16="http://schemas.microsoft.com/office/drawing/2014/main" id="{2FE8E780-1DE8-B245-8215-3ECC2513C073}"/>
              </a:ext>
            </a:extLst>
          </p:cNvPr>
          <p:cNvGrpSpPr/>
          <p:nvPr userDrawn="1"/>
        </p:nvGrpSpPr>
        <p:grpSpPr>
          <a:xfrm>
            <a:off x="0" y="522288"/>
            <a:ext cx="744467" cy="547190"/>
            <a:chOff x="0" y="711956"/>
            <a:chExt cx="3721100" cy="62020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0A2A1D5-CB4B-1A40-8711-4F412AA9927B}"/>
                </a:ext>
              </a:extLst>
            </p:cNvPr>
            <p:cNvSpPr/>
            <p:nvPr userDrawn="1"/>
          </p:nvSpPr>
          <p:spPr>
            <a:xfrm rot="10800000">
              <a:off x="0" y="711956"/>
              <a:ext cx="3721100" cy="52228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2B5F476-DD08-5B45-A331-21193BD3472A}"/>
                </a:ext>
              </a:extLst>
            </p:cNvPr>
            <p:cNvSpPr/>
            <p:nvPr userDrawn="1"/>
          </p:nvSpPr>
          <p:spPr>
            <a:xfrm rot="10800000">
              <a:off x="0" y="1234244"/>
              <a:ext cx="3721100" cy="9791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35166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694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10" r:id="rId8"/>
    <p:sldLayoutId id="2147483711" r:id="rId9"/>
    <p:sldLayoutId id="2147483712" r:id="rId10"/>
    <p:sldLayoutId id="2147483713" r:id="rId11"/>
    <p:sldLayoutId id="2147483695" r:id="rId12"/>
    <p:sldLayoutId id="2147483696" r:id="rId13"/>
    <p:sldLayoutId id="2147483709" r:id="rId14"/>
    <p:sldLayoutId id="2147483715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i="0" kern="120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bg2"/>
        </a:buClr>
        <a:buFont typeface="Arial" panose="020B0604020202020204" pitchFamily="34" charset="0"/>
        <a:buChar char="•"/>
        <a:defRPr sz="1600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/>
        </a:buClr>
        <a:buFont typeface="Arial" panose="020B0604020202020204" pitchFamily="34" charset="0"/>
        <a:buChar char="−"/>
        <a:defRPr sz="1600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/>
        </a:buClr>
        <a:buFont typeface="Arial" panose="020B0604020202020204" pitchFamily="34" charset="0"/>
        <a:buChar char="•"/>
        <a:defRPr sz="1600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/>
        </a:buClr>
        <a:buFont typeface="Arial" panose="020B0604020202020204" pitchFamily="34" charset="0"/>
        <a:buChar char="−"/>
        <a:defRPr sz="1600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/>
        </a:buClr>
        <a:buFont typeface="Arial" panose="020B0604020202020204" pitchFamily="34" charset="0"/>
        <a:buChar char="•"/>
        <a:defRPr sz="1600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420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532DF-831B-7334-3676-8667C926E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Outage schedule analysis </a:t>
            </a:r>
            <a:r>
              <a:rPr lang="en-US" dirty="0" err="1"/>
              <a:t>req.s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A45400-37B7-35A7-6125-FEB6ED561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1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47A4BBE-C613-2F69-09F7-6031B3EE1D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789717"/>
              </p:ext>
            </p:extLst>
          </p:nvPr>
        </p:nvGraphicFramePr>
        <p:xfrm>
          <a:off x="155020" y="1510093"/>
          <a:ext cx="11576732" cy="28549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650175">
                  <a:extLst>
                    <a:ext uri="{9D8B030D-6E8A-4147-A177-3AD203B41FA5}">
                      <a16:colId xmlns:a16="http://schemas.microsoft.com/office/drawing/2014/main" val="2065379076"/>
                    </a:ext>
                  </a:extLst>
                </a:gridCol>
                <a:gridCol w="1608821">
                  <a:extLst>
                    <a:ext uri="{9D8B030D-6E8A-4147-A177-3AD203B41FA5}">
                      <a16:colId xmlns:a16="http://schemas.microsoft.com/office/drawing/2014/main" val="1968283384"/>
                    </a:ext>
                  </a:extLst>
                </a:gridCol>
                <a:gridCol w="3264408">
                  <a:extLst>
                    <a:ext uri="{9D8B030D-6E8A-4147-A177-3AD203B41FA5}">
                      <a16:colId xmlns:a16="http://schemas.microsoft.com/office/drawing/2014/main" val="2967534346"/>
                    </a:ext>
                  </a:extLst>
                </a:gridCol>
                <a:gridCol w="3026664">
                  <a:extLst>
                    <a:ext uri="{9D8B030D-6E8A-4147-A177-3AD203B41FA5}">
                      <a16:colId xmlns:a16="http://schemas.microsoft.com/office/drawing/2014/main" val="3746262487"/>
                    </a:ext>
                  </a:extLst>
                </a:gridCol>
                <a:gridCol w="3026664">
                  <a:extLst>
                    <a:ext uri="{9D8B030D-6E8A-4147-A177-3AD203B41FA5}">
                      <a16:colId xmlns:a16="http://schemas.microsoft.com/office/drawing/2014/main" val="30039211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4227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HW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Hardware requirements: desktops, laptops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sz="12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8944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Operating system requirements: Windows, MacOS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sz="12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2279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License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License requirements compatible with APACHE 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sz="12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71157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Running configuration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Local run (or through server?)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sz="12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1970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# users supported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Small number of 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781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Web- or app-based?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5512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404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532DF-831B-7334-3676-8667C926E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Outage schedule analysis </a:t>
            </a:r>
            <a:r>
              <a:rPr lang="en-US" dirty="0" err="1"/>
              <a:t>req.s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A45400-37B7-35A7-6125-FEB6ED561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2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47A4BBE-C613-2F69-09F7-6031B3EE1D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0931294"/>
              </p:ext>
            </p:extLst>
          </p:nvPr>
        </p:nvGraphicFramePr>
        <p:xfrm>
          <a:off x="155020" y="1153477"/>
          <a:ext cx="11881958" cy="67716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50923">
                  <a:extLst>
                    <a:ext uri="{9D8B030D-6E8A-4147-A177-3AD203B41FA5}">
                      <a16:colId xmlns:a16="http://schemas.microsoft.com/office/drawing/2014/main" val="2065379076"/>
                    </a:ext>
                  </a:extLst>
                </a:gridCol>
                <a:gridCol w="1867632">
                  <a:extLst>
                    <a:ext uri="{9D8B030D-6E8A-4147-A177-3AD203B41FA5}">
                      <a16:colId xmlns:a16="http://schemas.microsoft.com/office/drawing/2014/main" val="1968283384"/>
                    </a:ext>
                  </a:extLst>
                </a:gridCol>
                <a:gridCol w="3187801">
                  <a:extLst>
                    <a:ext uri="{9D8B030D-6E8A-4147-A177-3AD203B41FA5}">
                      <a16:colId xmlns:a16="http://schemas.microsoft.com/office/drawing/2014/main" val="2967534346"/>
                    </a:ext>
                  </a:extLst>
                </a:gridCol>
                <a:gridCol w="3187801">
                  <a:extLst>
                    <a:ext uri="{9D8B030D-6E8A-4147-A177-3AD203B41FA5}">
                      <a16:colId xmlns:a16="http://schemas.microsoft.com/office/drawing/2014/main" val="3746262487"/>
                    </a:ext>
                  </a:extLst>
                </a:gridCol>
                <a:gridCol w="3187801">
                  <a:extLst>
                    <a:ext uri="{9D8B030D-6E8A-4147-A177-3AD203B41FA5}">
                      <a16:colId xmlns:a16="http://schemas.microsoft.com/office/drawing/2014/main" val="30039211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4227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Import outage schedule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Load from file an outage schedule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Schedule format to be decided</a:t>
                      </a:r>
                    </a:p>
                    <a:p>
                      <a:pPr marL="117475" indent="-117475" algn="l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dirty="0"/>
                        <a:t>Graph of activities (</a:t>
                      </a:r>
                      <a:r>
                        <a:rPr lang="en-US" sz="1200" dirty="0" err="1"/>
                        <a:t>TBDef</a:t>
                      </a:r>
                      <a:r>
                        <a:rPr lang="en-US" sz="1200" dirty="0"/>
                        <a:t>)</a:t>
                      </a:r>
                    </a:p>
                    <a:p>
                      <a:pPr marL="117475" marR="0" lvl="0" indent="-1174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Dictionary data format for each activity (</a:t>
                      </a:r>
                      <a:r>
                        <a:rPr lang="en-US" sz="1200" dirty="0" err="1"/>
                        <a:t>TBDef</a:t>
                      </a:r>
                      <a:r>
                        <a:rPr lang="en-US" sz="1200" dirty="0"/>
                        <a:t>)</a:t>
                      </a:r>
                    </a:p>
                    <a:p>
                      <a:pPr marL="117475" indent="-117475" algn="l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dirty="0"/>
                        <a:t>Time series of resources availability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781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Visualize outage schedule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Visualize through a Gantt chart the schedule (10K-17K activities).</a:t>
                      </a:r>
                    </a:p>
                    <a:p>
                      <a:pPr marL="119063" indent="-119063" algn="l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dirty="0"/>
                        <a:t>Capture:</a:t>
                      </a:r>
                    </a:p>
                    <a:p>
                      <a:pPr marL="238125" indent="-107950" algn="l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dirty="0"/>
                        <a:t>Temporal location of activities</a:t>
                      </a:r>
                    </a:p>
                    <a:p>
                      <a:pPr marL="238125" indent="-107950" algn="l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dirty="0"/>
                        <a:t>Logical links between activities</a:t>
                      </a:r>
                    </a:p>
                    <a:p>
                      <a:pPr marL="119063" indent="-119063" algn="l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dirty="0"/>
                        <a:t>Highlight critical 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Outage schedule imported (see #1)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Schedule visualization window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5512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Schedule visualization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19063" indent="-119063" algn="l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dirty="0"/>
                        <a:t>Select daily portion of schedule or by time interval</a:t>
                      </a:r>
                    </a:p>
                    <a:p>
                      <a:pPr marL="119063" indent="-119063" algn="l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dirty="0"/>
                        <a:t>Select portion of outage based on activity attribute</a:t>
                      </a:r>
                    </a:p>
                    <a:p>
                      <a:pPr marL="119063" indent="-119063" algn="l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dirty="0"/>
                        <a:t>Visualize properties of each activity</a:t>
                      </a:r>
                    </a:p>
                    <a:p>
                      <a:pPr marL="119063" indent="-119063" algn="l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dirty="0"/>
                        <a:t>Visualize temporal profile of resources usage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4726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2.2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Interactions with schedule visualization 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dirty="0"/>
                        <a:t>Edit schedule and run data analytics of req. 4 when schedule is edited: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Move activity along temporal axis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/>
                        <a:t>Add/remove </a:t>
                      </a:r>
                      <a:r>
                        <a:rPr lang="en-US" sz="1200" dirty="0"/>
                        <a:t>activity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Edit activity attributes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Add/remove dependency link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43978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Reduce outage schedule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1200" dirty="0"/>
                        <a:t>Group set of activities that are in series and no outgoing links are present within the set, and recalculate schedule 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Outage schedule imported (see #1)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Reduced schedule</a:t>
                      </a:r>
                    </a:p>
                    <a:p>
                      <a:pPr marL="117475" indent="-117475" algn="l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dirty="0"/>
                        <a:t>Graph of macro-activities</a:t>
                      </a:r>
                    </a:p>
                    <a:p>
                      <a:pPr marL="117475" indent="-117475" algn="l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dirty="0"/>
                        <a:t>Dictionary data format for each macro-activity</a:t>
                      </a:r>
                    </a:p>
                    <a:p>
                      <a:pPr marL="117475" indent="-117475" algn="l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dirty="0"/>
                        <a:t>Time series for resources availability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9230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Import schedule risk analytics results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1200" dirty="0"/>
                        <a:t>Run data analytics workflow to assess importance of activities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Output of #3 or outage schedule imported (see #1)</a:t>
                      </a:r>
                    </a:p>
                    <a:p>
                      <a:pPr algn="l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17475" indent="-117475" algn="l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dirty="0"/>
                        <a:t>Resilience measure for each activity</a:t>
                      </a:r>
                    </a:p>
                    <a:p>
                      <a:pPr marL="117475" indent="-117475" algn="l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dirty="0"/>
                        <a:t>Plot of resilience measure of all or </a:t>
                      </a:r>
                      <a:r>
                        <a:rPr lang="en-US" sz="1200"/>
                        <a:t>subset activities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70265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5623724"/>
      </p:ext>
    </p:extLst>
  </p:cSld>
  <p:clrMapOvr>
    <a:masterClrMapping/>
  </p:clrMapOvr>
</p:sld>
</file>

<file path=ppt/theme/theme1.xml><?xml version="1.0" encoding="utf-8"?>
<a:theme xmlns:a="http://schemas.openxmlformats.org/drawingml/2006/main" name="INL 2020">
  <a:themeElements>
    <a:clrScheme name="INL 2020">
      <a:dk1>
        <a:srgbClr val="000000"/>
      </a:dk1>
      <a:lt1>
        <a:srgbClr val="FFFFFF"/>
      </a:lt1>
      <a:dk2>
        <a:srgbClr val="06509D"/>
      </a:dk2>
      <a:lt2>
        <a:srgbClr val="2CA8E1"/>
      </a:lt2>
      <a:accent1>
        <a:srgbClr val="8EC423"/>
      </a:accent1>
      <a:accent2>
        <a:srgbClr val="2CA8E1"/>
      </a:accent2>
      <a:accent3>
        <a:srgbClr val="832369"/>
      </a:accent3>
      <a:accent4>
        <a:srgbClr val="CF1D4C"/>
      </a:accent4>
      <a:accent5>
        <a:srgbClr val="F78E20"/>
      </a:accent5>
      <a:accent6>
        <a:srgbClr val="59595C"/>
      </a:accent6>
      <a:hlink>
        <a:srgbClr val="7F7F7F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L_2022_hexDark_wide-WEB" id="{BFCE2894-AEF1-8B46-9681-589859762878}" vid="{2C3C1B24-8270-DB49-B9E8-13EE0CF6AE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BC06D1B7C2D824AB933565C31CCA979" ma:contentTypeVersion="6" ma:contentTypeDescription="Create a new document." ma:contentTypeScope="" ma:versionID="d11006f083f5ed3a04b6463134ad427c">
  <xsd:schema xmlns:xsd="http://www.w3.org/2001/XMLSchema" xmlns:xs="http://www.w3.org/2001/XMLSchema" xmlns:p="http://schemas.microsoft.com/office/2006/metadata/properties" xmlns:ns2="2d44db40-f69d-4b43-9227-5b9eb56d7e8f" xmlns:ns3="0251211a-b8bb-4214-8a0c-598584f4b3c2" targetNamespace="http://schemas.microsoft.com/office/2006/metadata/properties" ma:root="true" ma:fieldsID="74c2a0b8d504f5e30bc86adbc48cda5c" ns2:_="" ns3:_="">
    <xsd:import namespace="2d44db40-f69d-4b43-9227-5b9eb56d7e8f"/>
    <xsd:import namespace="0251211a-b8bb-4214-8a0c-598584f4b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44db40-f69d-4b43-9227-5b9eb56d7e8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51211a-b8bb-4214-8a0c-598584f4b3c2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1A68D4D-9402-4485-B11D-8DDDCEB2E4C5}">
  <ds:schemaRefs>
    <ds:schemaRef ds:uri="http://purl.org/dc/terms/"/>
    <ds:schemaRef ds:uri="0251211a-b8bb-4214-8a0c-598584f4b3c2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purl.org/dc/dcmitype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2d44db40-f69d-4b43-9227-5b9eb56d7e8f"/>
  </ds:schemaRefs>
</ds:datastoreItem>
</file>

<file path=customXml/itemProps2.xml><?xml version="1.0" encoding="utf-8"?>
<ds:datastoreItem xmlns:ds="http://schemas.openxmlformats.org/officeDocument/2006/customXml" ds:itemID="{24F39D0F-1D52-4D28-8A96-C378743FB9D0}">
  <ds:schemaRefs>
    <ds:schemaRef ds:uri="0251211a-b8bb-4214-8a0c-598584f4b3c2"/>
    <ds:schemaRef ds:uri="2d44db40-f69d-4b43-9227-5b9eb56d7e8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322932C-873F-4D0F-B9E0-AE16472CDC1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INL 2020</Template>
  <TotalTime>1715</TotalTime>
  <Words>325</Words>
  <Application>Microsoft Macintosh PowerPoint</Application>
  <PresentationFormat>Widescreen</PresentationFormat>
  <Paragraphs>92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Arial Narrow</vt:lpstr>
      <vt:lpstr>Calibri</vt:lpstr>
      <vt:lpstr>Myriad Pro Cond</vt:lpstr>
      <vt:lpstr>Times New Roman</vt:lpstr>
      <vt:lpstr>INL 2020</vt:lpstr>
      <vt:lpstr>Outage schedule analysis req.s</vt:lpstr>
      <vt:lpstr>Outage schedule analysis req.s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Diego Mandelli</dc:creator>
  <cp:keywords/>
  <dc:description/>
  <cp:lastModifiedBy>Diego Mandelli</cp:lastModifiedBy>
  <cp:revision>3</cp:revision>
  <cp:lastPrinted>2024-05-01T23:07:46Z</cp:lastPrinted>
  <dcterms:created xsi:type="dcterms:W3CDTF">2023-11-07T22:18:42Z</dcterms:created>
  <dcterms:modified xsi:type="dcterms:W3CDTF">2024-05-29T20:08:12Z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0x0101005BC06D1B7C2D824AB933565C31CCA979</vt:lpwstr>
  </property>
</Properties>
</file>